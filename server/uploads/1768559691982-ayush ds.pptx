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11"/>
  </p:notesMasterIdLst>
  <p:handoutMasterIdLst>
    <p:handoutMasterId r:id="rId12"/>
  </p:handoutMasterIdLst>
  <p:sldIdLst>
    <p:sldId id="312" r:id="rId5"/>
    <p:sldId id="304" r:id="rId6"/>
    <p:sldId id="307" r:id="rId7"/>
    <p:sldId id="282" r:id="rId8"/>
    <p:sldId id="314" r:id="rId9"/>
    <p:sldId id="297" r:id="rId1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2CEB01-F824-40FF-91DE-758525493D26}" v="19" dt="2025-11-02T12:37:36.26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8" d="100"/>
          <a:sy n="78" d="100"/>
        </p:scale>
        <p:origin x="878" y="4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99744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9850913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01225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05706729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16746555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41495934-4F9F-53EB-2265-B24D206529F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DF7987F7-DE12-D4BC-4A1F-8CFEEE5442E8}"/>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981126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814311AD-2305-6E51-3477-012DBF52275B}"/>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5CC9BBA8-BD5B-F57E-1625-E4C05F90E46D}"/>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453034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2" name="Freeform: Shape 1">
            <a:extLst>
              <a:ext uri="{FF2B5EF4-FFF2-40B4-BE49-F238E27FC236}">
                <a16:creationId xmlns:a16="http://schemas.microsoft.com/office/drawing/2014/main" id="{8964F31D-49C1-0108-0B81-1DD5D6D8CF0A}"/>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042533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172BFCAE-9646-4B20-C339-2E71967D1C2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80811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308394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172045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107524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02453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820640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11/3/2025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8F63A3B-78C7-47BE-AE5E-E10140E04643}"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20745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651" r:id="rId15"/>
    <p:sldLayoutId id="2147483680" r:id="rId16"/>
    <p:sldLayoutId id="2147483653" r:id="rId17"/>
    <p:sldLayoutId id="2147483685" r:id="rId18"/>
    <p:sldLayoutId id="2147483686" r:id="rId19"/>
    <p:sldLayoutId id="2147483687" r:id="rId20"/>
    <p:sldLayoutId id="2147483688" r:id="rId21"/>
    <p:sldLayoutId id="2147483689" r:id="rId22"/>
    <p:sldLayoutId id="2147483691" r:id="rId23"/>
    <p:sldLayoutId id="2147483692" r:id="rId24"/>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18.jpg"/><Relationship Id="rId4" Type="http://schemas.openxmlformats.org/officeDocument/2006/relationships/image" Target="../media/image17.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E9B0C0A-1DAC-FAB6-D235-FEF1F37EDB81}"/>
              </a:ext>
            </a:extLst>
          </p:cNvPr>
          <p:cNvSpPr>
            <a:spLocks noGrp="1"/>
          </p:cNvSpPr>
          <p:nvPr>
            <p:ph type="subTitle" idx="1"/>
          </p:nvPr>
        </p:nvSpPr>
        <p:spPr>
          <a:xfrm>
            <a:off x="3436374" y="3849330"/>
            <a:ext cx="5715000" cy="2561302"/>
          </a:xfrm>
        </p:spPr>
        <p:txBody>
          <a:bodyPr>
            <a:normAutofit fontScale="85000" lnSpcReduction="20000"/>
          </a:bodyPr>
          <a:lstStyle/>
          <a:p>
            <a:endParaRPr lang="en-US" dirty="0"/>
          </a:p>
          <a:p>
            <a:endParaRPr lang="en-US" dirty="0"/>
          </a:p>
          <a:p>
            <a:r>
              <a:rPr lang="en-US" dirty="0"/>
              <a:t>Submitted To : Dr. Rohit Agrawal</a:t>
            </a:r>
          </a:p>
          <a:p>
            <a:endParaRPr lang="en-US" dirty="0"/>
          </a:p>
          <a:p>
            <a:r>
              <a:rPr lang="en-US" dirty="0"/>
              <a:t>Submitted By : Ayush Nagpal</a:t>
            </a:r>
          </a:p>
          <a:p>
            <a:r>
              <a:rPr lang="en-US" dirty="0"/>
              <a:t>Enrollment No : 0901CS231029</a:t>
            </a:r>
          </a:p>
          <a:p>
            <a:r>
              <a:rPr lang="en-US" dirty="0"/>
              <a:t>Section - A</a:t>
            </a:r>
          </a:p>
          <a:p>
            <a:r>
              <a:rPr lang="en-IN" dirty="0"/>
              <a:t>CSE 5</a:t>
            </a:r>
            <a:r>
              <a:rPr lang="en-IN" baseline="30000" dirty="0"/>
              <a:t>th</a:t>
            </a:r>
            <a:r>
              <a:rPr lang="en-IN" dirty="0"/>
              <a:t> Sem  </a:t>
            </a:r>
          </a:p>
          <a:p>
            <a:endParaRPr lang="en-IN" dirty="0"/>
          </a:p>
        </p:txBody>
      </p:sp>
      <p:pic>
        <p:nvPicPr>
          <p:cNvPr id="7" name="Picture 6">
            <a:extLst>
              <a:ext uri="{FF2B5EF4-FFF2-40B4-BE49-F238E27FC236}">
                <a16:creationId xmlns:a16="http://schemas.microsoft.com/office/drawing/2014/main" id="{B24A846D-2B9E-8906-00D8-451DF7848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0447"/>
            <a:ext cx="12192001" cy="14097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8357D36-1A5D-BF32-669E-53DD75B56857}"/>
              </a:ext>
            </a:extLst>
          </p:cNvPr>
          <p:cNvSpPr txBox="1"/>
          <p:nvPr/>
        </p:nvSpPr>
        <p:spPr>
          <a:xfrm>
            <a:off x="3050458" y="1771774"/>
            <a:ext cx="6100916" cy="646331"/>
          </a:xfrm>
          <a:prstGeom prst="rect">
            <a:avLst/>
          </a:prstGeom>
          <a:noFill/>
        </p:spPr>
        <p:txBody>
          <a:bodyPr wrap="square">
            <a:spAutoFit/>
          </a:bodyPr>
          <a:lstStyle/>
          <a:p>
            <a:r>
              <a:rPr lang="en-US" b="1" dirty="0">
                <a:solidFill>
                  <a:srgbClr val="6E3F0C"/>
                </a:solidFill>
                <a:latin typeface="Candara" panose="020E0502030303020204" pitchFamily="34" charset="0"/>
              </a:rPr>
              <a:t>DEPARTMENT OF COMPUTER SCIENCE &amp; ENGINEERING</a:t>
            </a:r>
          </a:p>
          <a:p>
            <a:r>
              <a:rPr lang="en-US" b="1" dirty="0">
                <a:solidFill>
                  <a:srgbClr val="6E3F0C"/>
                </a:solidFill>
                <a:latin typeface="Candara" panose="020E0502030303020204" pitchFamily="34" charset="0"/>
              </a:rPr>
              <a:t>                      PROFICIENCY EXAMINATION</a:t>
            </a:r>
            <a:endParaRPr lang="en-IN" dirty="0"/>
          </a:p>
        </p:txBody>
      </p:sp>
      <p:sp>
        <p:nvSpPr>
          <p:cNvPr id="12" name="TextBox 11">
            <a:extLst>
              <a:ext uri="{FF2B5EF4-FFF2-40B4-BE49-F238E27FC236}">
                <a16:creationId xmlns:a16="http://schemas.microsoft.com/office/drawing/2014/main" id="{400EFEC7-7298-32F2-3D2E-E11C4158D029}"/>
              </a:ext>
            </a:extLst>
          </p:cNvPr>
          <p:cNvSpPr txBox="1"/>
          <p:nvPr/>
        </p:nvSpPr>
        <p:spPr>
          <a:xfrm>
            <a:off x="2850126" y="2531616"/>
            <a:ext cx="6000259" cy="954107"/>
          </a:xfrm>
          <a:prstGeom prst="rect">
            <a:avLst/>
          </a:prstGeom>
          <a:noFill/>
        </p:spPr>
        <p:txBody>
          <a:bodyPr wrap="square">
            <a:spAutoFit/>
          </a:bodyPr>
          <a:lstStyle/>
          <a:p>
            <a:pPr algn="ctr"/>
            <a:r>
              <a:rPr lang="en-US" sz="2800" dirty="0">
                <a:solidFill>
                  <a:schemeClr val="accent6"/>
                </a:solidFill>
                <a:latin typeface="Times New Roman" panose="02020603050405020304" pitchFamily="18" charset="0"/>
                <a:cs typeface="Times New Roman" panose="02020603050405020304" pitchFamily="18" charset="0"/>
              </a:rPr>
              <a:t>Data Science (3150511)</a:t>
            </a:r>
          </a:p>
          <a:p>
            <a:pPr algn="ctr"/>
            <a:r>
              <a:rPr lang="en-US" sz="2800" dirty="0">
                <a:solidFill>
                  <a:schemeClr val="accent6"/>
                </a:solidFill>
                <a:latin typeface="Times New Roman" panose="02020603050405020304" pitchFamily="18" charset="0"/>
                <a:cs typeface="Times New Roman" panose="02020603050405020304" pitchFamily="18" charset="0"/>
              </a:rPr>
              <a:t>Topic – Model Evaluation Metrics</a:t>
            </a:r>
            <a:endParaRPr lang="en-IN" sz="2800"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83225" y="260059"/>
            <a:ext cx="7445157" cy="763671"/>
          </a:xfrm>
        </p:spPr>
        <p:txBody>
          <a:bodyPr/>
          <a:lstStyle/>
          <a:p>
            <a:r>
              <a:rPr lang="en-US" u="sng" dirty="0">
                <a:latin typeface="+mn-lt"/>
                <a:cs typeface="Times New Roman" panose="02020603050405020304" pitchFamily="18" charset="0"/>
              </a:rPr>
              <a:t>Key learning From Course</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262271"/>
            <a:ext cx="9311780" cy="5953538"/>
          </a:xfrm>
        </p:spPr>
        <p:txBody>
          <a:bodyPr>
            <a:normAutofit fontScale="70000" lnSpcReduction="20000"/>
          </a:bodyPr>
          <a:lstStyle/>
          <a:p>
            <a:pPr marL="342900" indent="-342900">
              <a:buFont typeface="Wingdings" panose="05000000000000000000" pitchFamily="2" charset="2"/>
              <a:buChar char="Ø"/>
            </a:pPr>
            <a:r>
              <a:rPr lang="en-IN" sz="3600" dirty="0"/>
              <a:t> </a:t>
            </a:r>
            <a:r>
              <a:rPr lang="en-IN" sz="3600" b="1" dirty="0"/>
              <a:t>Course Outcome 1</a:t>
            </a:r>
          </a:p>
          <a:p>
            <a:pPr marL="342900" indent="-342900" algn="just">
              <a:buFont typeface="Arial" panose="020B0604020202020204" pitchFamily="34" charset="0"/>
              <a:buChar char="•"/>
            </a:pPr>
            <a:r>
              <a:rPr lang="en-IN" sz="2900" dirty="0"/>
              <a:t>Understand core concepts of Data Science.</a:t>
            </a:r>
          </a:p>
          <a:p>
            <a:pPr marL="342900" indent="-342900" algn="just">
              <a:buFont typeface="Arial" panose="020B0604020202020204" pitchFamily="34" charset="0"/>
              <a:buChar char="•"/>
            </a:pPr>
            <a:r>
              <a:rPr lang="en-IN" sz="2900" dirty="0"/>
              <a:t>Use Python for data-related tasks.</a:t>
            </a:r>
          </a:p>
          <a:p>
            <a:pPr marL="342900" indent="-342900" algn="just">
              <a:buFont typeface="Arial" panose="020B0604020202020204" pitchFamily="34" charset="0"/>
              <a:buChar char="•"/>
            </a:pPr>
            <a:r>
              <a:rPr lang="en-IN" sz="2900" dirty="0"/>
              <a:t>Perform data manipulation and computation using NumPy.</a:t>
            </a:r>
          </a:p>
          <a:p>
            <a:pPr marL="342900" indent="-342900" algn="just">
              <a:buFont typeface="Arial" panose="020B0604020202020204" pitchFamily="34" charset="0"/>
              <a:buChar char="•"/>
            </a:pPr>
            <a:endParaRPr lang="en-IN" sz="3600" dirty="0"/>
          </a:p>
          <a:p>
            <a:pPr marL="342900" indent="-342900">
              <a:buFont typeface="Wingdings" panose="05000000000000000000" pitchFamily="2" charset="2"/>
              <a:buChar char="Ø"/>
            </a:pPr>
            <a:r>
              <a:rPr lang="en-IN" sz="3600" b="1" dirty="0"/>
              <a:t>Course Outcome 2</a:t>
            </a:r>
          </a:p>
          <a:p>
            <a:pPr marL="342900" indent="-342900">
              <a:buFont typeface="Arial" panose="020B0604020202020204" pitchFamily="34" charset="0"/>
              <a:buChar char="•"/>
            </a:pPr>
            <a:r>
              <a:rPr lang="en-IN" sz="2900" dirty="0"/>
              <a:t>Analyse datasets effectively.</a:t>
            </a:r>
          </a:p>
          <a:p>
            <a:pPr marL="342900" indent="-342900">
              <a:buFont typeface="Arial" panose="020B0604020202020204" pitchFamily="34" charset="0"/>
              <a:buChar char="•"/>
            </a:pPr>
            <a:r>
              <a:rPr lang="en-IN" sz="2900" dirty="0"/>
              <a:t>Apply statistical modelling techniques to interpret data patterns and relationships.</a:t>
            </a:r>
          </a:p>
          <a:p>
            <a:endParaRPr lang="en-IN" sz="3600" dirty="0"/>
          </a:p>
          <a:p>
            <a:pPr marL="342900" indent="-342900">
              <a:buFont typeface="Wingdings" panose="05000000000000000000" pitchFamily="2" charset="2"/>
              <a:buChar char="Ø"/>
            </a:pPr>
            <a:r>
              <a:rPr lang="en-IN" sz="3600" b="1" dirty="0"/>
              <a:t>Course Outcome 3</a:t>
            </a:r>
          </a:p>
          <a:p>
            <a:pPr marL="342900" indent="-342900">
              <a:buFont typeface="Arial" panose="020B0604020202020204" pitchFamily="34" charset="0"/>
              <a:buChar char="•"/>
            </a:pPr>
            <a:r>
              <a:rPr lang="en-IN" sz="2900" dirty="0"/>
              <a:t>Handle and manage missing data in datasets.</a:t>
            </a:r>
          </a:p>
          <a:p>
            <a:pPr marL="342900" indent="-342900">
              <a:buFont typeface="Arial" panose="020B0604020202020204" pitchFamily="34" charset="0"/>
              <a:buChar char="•"/>
            </a:pPr>
            <a:r>
              <a:rPr lang="en-IN" sz="2900" dirty="0"/>
              <a:t>Understand and utilize data visualization to improve data insight and communication.</a:t>
            </a:r>
          </a:p>
          <a:p>
            <a:r>
              <a:rPr lang="en-IN" dirty="0"/>
              <a:t>      </a:t>
            </a:r>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CE04839-20D0-B0B7-A016-2CD955AD0F71}"/>
              </a:ext>
            </a:extLst>
          </p:cNvPr>
          <p:cNvSpPr>
            <a:spLocks noGrp="1"/>
          </p:cNvSpPr>
          <p:nvPr>
            <p:ph sz="half" idx="2"/>
          </p:nvPr>
        </p:nvSpPr>
        <p:spPr>
          <a:xfrm>
            <a:off x="3108227" y="826566"/>
            <a:ext cx="8540434" cy="5305877"/>
          </a:xfrm>
        </p:spPr>
        <p:txBody>
          <a:bodyPr>
            <a:normAutofit/>
          </a:bodyPr>
          <a:lstStyle/>
          <a:p>
            <a:pPr>
              <a:buFont typeface="Wingdings" panose="05000000000000000000" pitchFamily="2" charset="2"/>
              <a:buChar char="Ø"/>
            </a:pPr>
            <a:r>
              <a:rPr lang="en-IN" sz="2700" b="1" dirty="0"/>
              <a:t>Course Outcome 4</a:t>
            </a:r>
          </a:p>
          <a:p>
            <a:r>
              <a:rPr lang="en-IN" sz="2200" dirty="0"/>
              <a:t>Design and implement machine learning algorithms (supervised and unsupervised).</a:t>
            </a:r>
          </a:p>
          <a:p>
            <a:r>
              <a:rPr lang="en-US" sz="2200" dirty="0"/>
              <a:t>Assess model performance using relevant evaluation metrics.</a:t>
            </a:r>
          </a:p>
          <a:p>
            <a:pPr marL="0" indent="0">
              <a:buNone/>
            </a:pPr>
            <a:r>
              <a:rPr lang="en-IN" sz="4500" dirty="0"/>
              <a:t>      </a:t>
            </a:r>
            <a:endParaRPr lang="en-IN" sz="2700" dirty="0"/>
          </a:p>
          <a:p>
            <a:pPr>
              <a:buFont typeface="Wingdings" panose="05000000000000000000" pitchFamily="2" charset="2"/>
              <a:buChar char="Ø"/>
            </a:pPr>
            <a:r>
              <a:rPr lang="en-IN" sz="2700" b="1" dirty="0"/>
              <a:t>Course Outcome 5</a:t>
            </a:r>
          </a:p>
          <a:p>
            <a:r>
              <a:rPr lang="en-IN" sz="2200" dirty="0"/>
              <a:t>Apply statistical hypothesis testing for data-driven decisions</a:t>
            </a:r>
          </a:p>
          <a:p>
            <a:r>
              <a:rPr lang="en-IN" sz="2200" dirty="0"/>
              <a:t>Evaluate machine learning models to ensure reliability and accuracy</a:t>
            </a:r>
          </a:p>
          <a:p>
            <a:pPr marL="0" indent="0">
              <a:buNone/>
            </a:pPr>
            <a:endParaRPr lang="en-IN" sz="4500" dirty="0"/>
          </a:p>
          <a:p>
            <a:endParaRPr lang="en-IN"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556164" y="771148"/>
            <a:ext cx="9897566" cy="1313478"/>
          </a:xfrm>
        </p:spPr>
        <p:txBody>
          <a:bodyPr/>
          <a:lstStyle/>
          <a:p>
            <a:br>
              <a:rPr lang="en-US" sz="2800" u="sng" dirty="0">
                <a:solidFill>
                  <a:schemeClr val="accent6"/>
                </a:solidFill>
                <a:latin typeface="+mn-lt"/>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Model Evaluation Metrics</a:t>
            </a:r>
            <a:br>
              <a:rPr lang="en-IN" sz="2800" dirty="0">
                <a:latin typeface="Times New Roman" panose="02020603050405020304" pitchFamily="18" charset="0"/>
                <a:cs typeface="Times New Roman" panose="02020603050405020304" pitchFamily="18" charset="0"/>
              </a:rPr>
            </a:br>
            <a:br>
              <a:rPr lang="en-IN" sz="2800" u="sng" dirty="0">
                <a:solidFill>
                  <a:schemeClr val="accent6"/>
                </a:solidFill>
                <a:latin typeface="+mn-lt"/>
                <a:cs typeface="Times New Roman" panose="02020603050405020304" pitchFamily="18" charset="0"/>
              </a:rPr>
            </a:br>
            <a:endParaRPr lang="en-US" sz="2800" u="sng" dirty="0">
              <a:latin typeface="+mn-lt"/>
            </a:endParaRP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727035" y="1128724"/>
            <a:ext cx="8989343" cy="5263649"/>
          </a:xfrm>
        </p:spPr>
        <p:txBody>
          <a:bodyPr>
            <a:normAutofit/>
          </a:bodyPr>
          <a:lstStyle/>
          <a:p>
            <a:pPr marL="0" indent="0">
              <a:buNone/>
            </a:pPr>
            <a:endParaRPr lang="en-US" sz="2000" dirty="0"/>
          </a:p>
          <a:p>
            <a:pPr marL="0" indent="0">
              <a:buNone/>
            </a:pPr>
            <a:r>
              <a:rPr lang="en-US" sz="2000" dirty="0"/>
              <a:t>Model evaluation is a critical step in data science to assess the performance and reliability of machine learning models. It ensures that models generalize well to unseen data and align with the goals of the problem being solved. Evaluation techniques and metrics vary depending on the type of task, such as classification, regression, or clustering.</a:t>
            </a:r>
          </a:p>
          <a:p>
            <a:pPr marL="0" indent="0">
              <a:buNone/>
            </a:pPr>
            <a:endParaRPr lang="en-US" sz="2200" dirty="0">
              <a:effectLst/>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200" b="1" dirty="0">
                <a:ea typeface="Calibri" panose="020F0502020204030204" pitchFamily="34" charset="0"/>
                <a:cs typeface="Times New Roman" panose="02020603050405020304" pitchFamily="18" charset="0"/>
              </a:rPr>
              <a:t>ACCURACY</a:t>
            </a:r>
          </a:p>
          <a:p>
            <a:pPr marL="0" indent="0">
              <a:buNone/>
            </a:pPr>
            <a:r>
              <a:rPr lang="en-US" sz="2000" dirty="0"/>
              <a:t>Measures the ratio of correct predictions to total predictions. While simple, it can be misleading for imbalanced datasets.</a:t>
            </a:r>
          </a:p>
          <a:p>
            <a:pPr marL="0" indent="0">
              <a:buNone/>
            </a:pPr>
            <a:endParaRPr lang="en-IN" dirty="0">
              <a:effectLst/>
              <a:ea typeface="Calibri" panose="020F0502020204030204" pitchFamily="34" charset="0"/>
              <a:cs typeface="Times New Roman" panose="02020603050405020304" pitchFamily="18" charset="0"/>
            </a:endParaRPr>
          </a:p>
        </p:txBody>
      </p:sp>
      <p:pic>
        <p:nvPicPr>
          <p:cNvPr id="6" name="Picture 5" descr="A close up of a white background&#10;&#10;AI-generated content may be incorrect.">
            <a:extLst>
              <a:ext uri="{FF2B5EF4-FFF2-40B4-BE49-F238E27FC236}">
                <a16:creationId xmlns:a16="http://schemas.microsoft.com/office/drawing/2014/main" id="{F31E4CB8-27C7-2E6F-5B21-62650C8283DC}"/>
              </a:ext>
            </a:extLst>
          </p:cNvPr>
          <p:cNvPicPr>
            <a:picLocks noChangeAspect="1"/>
          </p:cNvPicPr>
          <p:nvPr/>
        </p:nvPicPr>
        <p:blipFill>
          <a:blip r:embed="rId3"/>
          <a:stretch>
            <a:fillRect/>
          </a:stretch>
        </p:blipFill>
        <p:spPr>
          <a:xfrm>
            <a:off x="4492800" y="5017937"/>
            <a:ext cx="4432300" cy="952500"/>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DDD6BDC-E008-6AB7-55A1-46ED9BCF054F}"/>
              </a:ext>
            </a:extLst>
          </p:cNvPr>
          <p:cNvSpPr>
            <a:spLocks noGrp="1"/>
          </p:cNvSpPr>
          <p:nvPr>
            <p:ph sz="half" idx="2"/>
          </p:nvPr>
        </p:nvSpPr>
        <p:spPr>
          <a:xfrm>
            <a:off x="2566043" y="79513"/>
            <a:ext cx="9451786" cy="6778487"/>
          </a:xfrm>
        </p:spPr>
        <p:txBody>
          <a:bodyPr>
            <a:normAutofit/>
          </a:bodyPr>
          <a:lstStyle/>
          <a:p>
            <a:pPr>
              <a:buFont typeface="Wingdings" panose="05000000000000000000" pitchFamily="2" charset="2"/>
              <a:buChar char="Ø"/>
            </a:pPr>
            <a:r>
              <a:rPr lang="en-US" sz="2400" b="1" dirty="0"/>
              <a:t>Precision</a:t>
            </a:r>
          </a:p>
          <a:p>
            <a:pPr marL="0" indent="0">
              <a:buNone/>
            </a:pPr>
            <a:r>
              <a:rPr lang="en-US" sz="2000" dirty="0"/>
              <a:t>Focuses on the proportion of true positives among predicted positives, useful when false positives are costly.</a:t>
            </a:r>
          </a:p>
          <a:p>
            <a:pPr marL="0" indent="0">
              <a:buNone/>
            </a:pPr>
            <a:endParaRPr lang="en-US" dirty="0"/>
          </a:p>
          <a:p>
            <a:pPr marL="0" indent="0">
              <a:buNone/>
            </a:pPr>
            <a:endParaRPr lang="en-US" dirty="0"/>
          </a:p>
          <a:p>
            <a:pPr marL="0" indent="0">
              <a:buNone/>
            </a:pPr>
            <a:endParaRPr lang="en-US" sz="2000" dirty="0">
              <a:solidFill>
                <a:schemeClr val="accent6">
                  <a:lumMod val="60000"/>
                  <a:lumOff val="40000"/>
                </a:schemeClr>
              </a:solidFill>
              <a:latin typeface="Nunito" pitchFamily="2" charset="0"/>
            </a:endParaRPr>
          </a:p>
          <a:p>
            <a:pPr algn="just">
              <a:buFont typeface="Wingdings" panose="05000000000000000000" pitchFamily="2" charset="2"/>
              <a:buChar char="Ø"/>
            </a:pPr>
            <a:r>
              <a:rPr lang="en-US" sz="2400" b="1" dirty="0">
                <a:latin typeface="Sabon Next LT (Body)"/>
              </a:rPr>
              <a:t>Recall</a:t>
            </a:r>
          </a:p>
          <a:p>
            <a:pPr marL="0" indent="0" algn="just">
              <a:spcAft>
                <a:spcPts val="1125"/>
              </a:spcAft>
              <a:buNone/>
            </a:pPr>
            <a:r>
              <a:rPr lang="en-US" sz="2000" dirty="0"/>
              <a:t>Measures the proportion of true positives among actual positives, critical for minimizing false negatives.</a:t>
            </a:r>
            <a:endParaRPr lang="en-US" sz="2000" b="0" i="0" dirty="0">
              <a:solidFill>
                <a:schemeClr val="accent6">
                  <a:lumMod val="60000"/>
                  <a:lumOff val="40000"/>
                </a:schemeClr>
              </a:solidFill>
              <a:effectLst/>
              <a:latin typeface="Nunito" pitchFamily="2" charset="0"/>
            </a:endParaRPr>
          </a:p>
          <a:p>
            <a:pPr marL="0" indent="0" algn="just">
              <a:buNone/>
            </a:pPr>
            <a:endParaRPr lang="en-US" sz="2000" dirty="0">
              <a:solidFill>
                <a:schemeClr val="accent6">
                  <a:lumMod val="60000"/>
                  <a:lumOff val="40000"/>
                </a:schemeClr>
              </a:solidFill>
              <a:latin typeface="Nunito" pitchFamily="2" charset="0"/>
            </a:endParaRPr>
          </a:p>
          <a:p>
            <a:pPr marL="0" indent="0" algn="just">
              <a:buNone/>
            </a:pPr>
            <a:endParaRPr lang="en-US" sz="2400" b="1" dirty="0">
              <a:solidFill>
                <a:schemeClr val="accent6">
                  <a:lumMod val="60000"/>
                  <a:lumOff val="40000"/>
                </a:schemeClr>
              </a:solidFill>
              <a:latin typeface="Sabon Next LT (Body)"/>
            </a:endParaRPr>
          </a:p>
          <a:p>
            <a:pPr algn="just">
              <a:buFont typeface="Wingdings" panose="05000000000000000000" pitchFamily="2" charset="2"/>
              <a:buChar char="Ø"/>
            </a:pPr>
            <a:r>
              <a:rPr lang="en-US" sz="2400" b="1" dirty="0">
                <a:solidFill>
                  <a:schemeClr val="accent3">
                    <a:lumMod val="50000"/>
                  </a:schemeClr>
                </a:solidFill>
                <a:latin typeface="Sabon Next LT (Body)"/>
              </a:rPr>
              <a:t>F1 Score</a:t>
            </a:r>
            <a:endParaRPr lang="en-US" sz="2000" b="1" dirty="0">
              <a:solidFill>
                <a:schemeClr val="accent3">
                  <a:lumMod val="50000"/>
                </a:schemeClr>
              </a:solidFill>
              <a:latin typeface="Sabon Next LT (Body)"/>
            </a:endParaRPr>
          </a:p>
          <a:p>
            <a:pPr marL="0" indent="0" algn="just">
              <a:buNone/>
            </a:pPr>
            <a:r>
              <a:rPr lang="en-US" sz="2000" dirty="0"/>
              <a:t>Combines precision and recall into a harmonic mean, balancing their trade-offs.</a:t>
            </a:r>
          </a:p>
          <a:p>
            <a:pPr marL="0" indent="0" algn="just">
              <a:buNone/>
            </a:pPr>
            <a:endParaRPr lang="en-US" sz="2000" b="1" dirty="0">
              <a:solidFill>
                <a:schemeClr val="accent3">
                  <a:lumMod val="50000"/>
                </a:schemeClr>
              </a:solidFill>
              <a:latin typeface="Sabon Next LT (Body)"/>
            </a:endParaRPr>
          </a:p>
        </p:txBody>
      </p:sp>
      <p:pic>
        <p:nvPicPr>
          <p:cNvPr id="3" name="Picture 2" descr="A math equation with black text&#10;&#10;AI-generated content may be incorrect.">
            <a:extLst>
              <a:ext uri="{FF2B5EF4-FFF2-40B4-BE49-F238E27FC236}">
                <a16:creationId xmlns:a16="http://schemas.microsoft.com/office/drawing/2014/main" id="{548535F3-E18E-319B-B7B0-329A45711223}"/>
              </a:ext>
            </a:extLst>
          </p:cNvPr>
          <p:cNvPicPr>
            <a:picLocks noChangeAspect="1"/>
          </p:cNvPicPr>
          <p:nvPr/>
        </p:nvPicPr>
        <p:blipFill>
          <a:blip r:embed="rId3"/>
          <a:stretch>
            <a:fillRect/>
          </a:stretch>
        </p:blipFill>
        <p:spPr>
          <a:xfrm>
            <a:off x="4930637" y="1335432"/>
            <a:ext cx="3086100" cy="927100"/>
          </a:xfrm>
          <a:prstGeom prst="rect">
            <a:avLst/>
          </a:prstGeom>
        </p:spPr>
      </p:pic>
      <p:pic>
        <p:nvPicPr>
          <p:cNvPr id="7" name="Picture 6" descr="A math equation with numbers and symbols&#10;&#10;AI-generated content may be incorrect.">
            <a:extLst>
              <a:ext uri="{FF2B5EF4-FFF2-40B4-BE49-F238E27FC236}">
                <a16:creationId xmlns:a16="http://schemas.microsoft.com/office/drawing/2014/main" id="{C9A0CAFC-3D4F-7B13-E3E7-1E971536E479}"/>
              </a:ext>
            </a:extLst>
          </p:cNvPr>
          <p:cNvPicPr>
            <a:picLocks noChangeAspect="1"/>
          </p:cNvPicPr>
          <p:nvPr/>
        </p:nvPicPr>
        <p:blipFill>
          <a:blip r:embed="rId4"/>
          <a:stretch>
            <a:fillRect/>
          </a:stretch>
        </p:blipFill>
        <p:spPr>
          <a:xfrm>
            <a:off x="4930638" y="3825738"/>
            <a:ext cx="3086100" cy="889000"/>
          </a:xfrm>
          <a:prstGeom prst="rect">
            <a:avLst/>
          </a:prstGeom>
        </p:spPr>
      </p:pic>
      <p:pic>
        <p:nvPicPr>
          <p:cNvPr id="10" name="Picture 9" descr="A close up of words&#10;&#10;AI-generated content may be incorrect.">
            <a:extLst>
              <a:ext uri="{FF2B5EF4-FFF2-40B4-BE49-F238E27FC236}">
                <a16:creationId xmlns:a16="http://schemas.microsoft.com/office/drawing/2014/main" id="{1E16435B-962C-2514-16C5-B55688AD40B0}"/>
              </a:ext>
            </a:extLst>
          </p:cNvPr>
          <p:cNvPicPr>
            <a:picLocks noChangeAspect="1"/>
          </p:cNvPicPr>
          <p:nvPr/>
        </p:nvPicPr>
        <p:blipFill>
          <a:blip r:embed="rId5"/>
          <a:stretch>
            <a:fillRect/>
          </a:stretch>
        </p:blipFill>
        <p:spPr>
          <a:xfrm>
            <a:off x="4930638" y="5762487"/>
            <a:ext cx="3086099" cy="1016000"/>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1179872" y="1744518"/>
            <a:ext cx="5715000" cy="2727709"/>
          </a:xfrm>
        </p:spPr>
        <p:txBody>
          <a:bodyPr/>
          <a:lstStyle/>
          <a:p>
            <a:r>
              <a:rPr lang="en-US" sz="5000" dirty="0"/>
              <a:t>Thank </a:t>
            </a:r>
            <a:br>
              <a:rPr lang="en-US" sz="5000" dirty="0"/>
            </a:br>
            <a:r>
              <a:rPr lang="en-US" sz="5000" dirty="0"/>
              <a:t>you</a:t>
            </a:r>
          </a:p>
        </p:txBody>
      </p:sp>
    </p:spTree>
    <p:extLst>
      <p:ext uri="{BB962C8B-B14F-4D97-AF65-F5344CB8AC3E}">
        <p14:creationId xmlns:p14="http://schemas.microsoft.com/office/powerpoint/2010/main" val="1973173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Integral</Template>
  <TotalTime>208</TotalTime>
  <Words>297</Words>
  <Application>Microsoft Office PowerPoint</Application>
  <PresentationFormat>Widescreen</PresentationFormat>
  <Paragraphs>51</Paragraphs>
  <Slides>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Arial</vt:lpstr>
      <vt:lpstr>Calibri</vt:lpstr>
      <vt:lpstr>Candara</vt:lpstr>
      <vt:lpstr>Nunito</vt:lpstr>
      <vt:lpstr>Sabon Next LT (Body)</vt:lpstr>
      <vt:lpstr>Times New Roman</vt:lpstr>
      <vt:lpstr>Tw Cen MT</vt:lpstr>
      <vt:lpstr>Tw Cen MT Condensed</vt:lpstr>
      <vt:lpstr>Wingdings</vt:lpstr>
      <vt:lpstr>Wingdings 3</vt:lpstr>
      <vt:lpstr>Integral</vt:lpstr>
      <vt:lpstr>PowerPoint Presentation</vt:lpstr>
      <vt:lpstr>Key learning From Course</vt:lpstr>
      <vt:lpstr>PowerPoint Presentation</vt:lpstr>
      <vt:lpstr> Model Evaluation Metrics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VIVEK SINGH</dc:creator>
  <cp:lastModifiedBy>ayush nagpal</cp:lastModifiedBy>
  <cp:revision>10</cp:revision>
  <dcterms:created xsi:type="dcterms:W3CDTF">2024-11-09T12:26:49Z</dcterms:created>
  <dcterms:modified xsi:type="dcterms:W3CDTF">2025-11-03T05:07:12Z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